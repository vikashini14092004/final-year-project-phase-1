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3" roundtripDataSignature="AMtx7mgHevtePrGlwSXi7ZVW6uvMNsEeA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3F6BD4E-BA06-4D4B-85F2-4C4C1C3F5D4D}">
  <a:tblStyle styleId="{73F6BD4E-BA06-4D4B-85F2-4C4C1C3F5D4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9" name="Google Shape;89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8" name="Google Shape;9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7" name="Google Shape;10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6" name="Google Shape;11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25" name="Google Shape;12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aa439a694a_1_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35" name="Google Shape;135;g3aa439a694a_1_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aa439a694a_1_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44" name="Google Shape;144;g3aa439a694a_1_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aa439a694a_1_2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53" name="Google Shape;153;g3aa439a694a_1_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aa439a694a_1_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aa439a694a_1_3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g3aa439a694a_1_3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0" name="Google Shape;170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9" name="Google Shape;179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8" name="Google Shape;188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7" name="Google Shape;197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6" name="Google Shape;206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5" name="Google Shape;215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4" name="Google Shape;224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3" name="Google Shape;233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1"/>
          <p:cNvSpPr/>
          <p:nvPr/>
        </p:nvSpPr>
        <p:spPr>
          <a:xfrm>
            <a:off x="914400" y="2393950"/>
            <a:ext cx="10363200" cy="109538"/>
          </a:xfrm>
          <a:custGeom>
            <a:rect b="b" l="l" r="r" t="t"/>
            <a:pathLst>
              <a:path extrusionOk="0" h="1000" w="100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extrusionOk="0" h="1000" w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9" name="Google Shape;19;p21"/>
          <p:cNvSpPr txBox="1"/>
          <p:nvPr>
            <p:ph type="ctrTitle"/>
          </p:nvPr>
        </p:nvSpPr>
        <p:spPr>
          <a:xfrm>
            <a:off x="914400" y="990600"/>
            <a:ext cx="103632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1"/>
          <p:cNvSpPr txBox="1"/>
          <p:nvPr>
            <p:ph idx="1" type="subTitle"/>
          </p:nvPr>
        </p:nvSpPr>
        <p:spPr>
          <a:xfrm>
            <a:off x="1930400" y="3429000"/>
            <a:ext cx="93472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Font typeface="Noto Sans Symbols"/>
              <a:buNone/>
              <a:defRPr sz="2800"/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lvl="4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lvl="5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6pPr>
            <a:lvl7pPr lvl="6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7pPr>
            <a:lvl8pPr lvl="7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8pPr>
            <a:lvl9pPr lvl="8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  <p:sp>
        <p:nvSpPr>
          <p:cNvPr id="21" name="Google Shape;21;p21"/>
          <p:cNvSpPr txBox="1"/>
          <p:nvPr>
            <p:ph idx="10" type="dt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1"/>
          <p:cNvSpPr txBox="1"/>
          <p:nvPr>
            <p:ph idx="11" type="ftr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1"/>
          <p:cNvSpPr txBox="1"/>
          <p:nvPr>
            <p:ph idx="12" type="sldNum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2"/>
          <p:cNvSpPr txBox="1"/>
          <p:nvPr>
            <p:ph type="title"/>
          </p:nvPr>
        </p:nvSpPr>
        <p:spPr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2"/>
          <p:cNvSpPr txBox="1"/>
          <p:nvPr>
            <p:ph idx="1" type="body"/>
          </p:nvPr>
        </p:nvSpPr>
        <p:spPr>
          <a:xfrm>
            <a:off x="755651" y="1752600"/>
            <a:ext cx="10668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indent="-342900" lvl="4" marL="22860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6pPr>
            <a:lvl7pPr indent="-342900" lvl="6" marL="3200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7pPr>
            <a:lvl8pPr indent="-342900" lvl="7" marL="3657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8pPr>
            <a:lvl9pPr indent="-342900" lvl="8" marL="41148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  <p:sp>
        <p:nvSpPr>
          <p:cNvPr id="27" name="Google Shape;27;p22"/>
          <p:cNvSpPr txBox="1"/>
          <p:nvPr>
            <p:ph idx="10" type="dt"/>
          </p:nvPr>
        </p:nvSpPr>
        <p:spPr>
          <a:xfrm>
            <a:off x="8128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2"/>
          <p:cNvSpPr txBox="1"/>
          <p:nvPr>
            <p:ph idx="11" type="ftr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2"/>
          <p:cNvSpPr txBox="1"/>
          <p:nvPr>
            <p:ph idx="12" type="sldNum"/>
          </p:nvPr>
        </p:nvSpPr>
        <p:spPr>
          <a:xfrm>
            <a:off x="87376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3"/>
          <p:cNvSpPr txBox="1"/>
          <p:nvPr>
            <p:ph type="title"/>
          </p:nvPr>
        </p:nvSpPr>
        <p:spPr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3"/>
          <p:cNvSpPr txBox="1"/>
          <p:nvPr>
            <p:ph idx="10" type="dt"/>
          </p:nvPr>
        </p:nvSpPr>
        <p:spPr>
          <a:xfrm>
            <a:off x="8128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3"/>
          <p:cNvSpPr txBox="1"/>
          <p:nvPr>
            <p:ph idx="11" type="ftr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3"/>
          <p:cNvSpPr txBox="1"/>
          <p:nvPr>
            <p:ph idx="12" type="sldNum"/>
          </p:nvPr>
        </p:nvSpPr>
        <p:spPr>
          <a:xfrm>
            <a:off x="87376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4"/>
          <p:cNvSpPr txBox="1"/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4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SzPts val="1400"/>
              <a:buNone/>
              <a:defRPr sz="1400"/>
            </a:lvl5pPr>
            <a:lvl6pPr indent="-228600" lvl="5" marL="274320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SzPts val="1400"/>
              <a:buNone/>
              <a:defRPr sz="1400"/>
            </a:lvl6pPr>
            <a:lvl7pPr indent="-228600" lvl="6" marL="320040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SzPts val="1400"/>
              <a:buNone/>
              <a:defRPr sz="1400"/>
            </a:lvl7pPr>
            <a:lvl8pPr indent="-228600" lvl="7" marL="365760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SzPts val="1400"/>
              <a:buNone/>
              <a:defRPr sz="1400"/>
            </a:lvl8pPr>
            <a:lvl9pPr indent="-228600" lvl="8" marL="411480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38" name="Google Shape;38;p24"/>
          <p:cNvSpPr txBox="1"/>
          <p:nvPr>
            <p:ph idx="10" type="dt"/>
          </p:nvPr>
        </p:nvSpPr>
        <p:spPr>
          <a:xfrm>
            <a:off x="8128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4"/>
          <p:cNvSpPr txBox="1"/>
          <p:nvPr>
            <p:ph idx="11" type="ftr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4"/>
          <p:cNvSpPr txBox="1"/>
          <p:nvPr>
            <p:ph idx="12" type="sldNum"/>
          </p:nvPr>
        </p:nvSpPr>
        <p:spPr>
          <a:xfrm>
            <a:off x="87376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5"/>
          <p:cNvSpPr txBox="1"/>
          <p:nvPr>
            <p:ph type="title"/>
          </p:nvPr>
        </p:nvSpPr>
        <p:spPr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5"/>
          <p:cNvSpPr txBox="1"/>
          <p:nvPr>
            <p:ph idx="1" type="body"/>
          </p:nvPr>
        </p:nvSpPr>
        <p:spPr>
          <a:xfrm>
            <a:off x="755651" y="1752600"/>
            <a:ext cx="52324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□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■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□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 sz="1800"/>
            </a:lvl9pPr>
          </a:lstStyle>
          <a:p/>
        </p:txBody>
      </p:sp>
      <p:sp>
        <p:nvSpPr>
          <p:cNvPr id="44" name="Google Shape;44;p25"/>
          <p:cNvSpPr txBox="1"/>
          <p:nvPr>
            <p:ph idx="2" type="body"/>
          </p:nvPr>
        </p:nvSpPr>
        <p:spPr>
          <a:xfrm>
            <a:off x="6191251" y="1752600"/>
            <a:ext cx="52324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□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■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□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 sz="1800"/>
            </a:lvl9pPr>
          </a:lstStyle>
          <a:p/>
        </p:txBody>
      </p:sp>
      <p:sp>
        <p:nvSpPr>
          <p:cNvPr id="45" name="Google Shape;45;p25"/>
          <p:cNvSpPr txBox="1"/>
          <p:nvPr>
            <p:ph idx="10" type="dt"/>
          </p:nvPr>
        </p:nvSpPr>
        <p:spPr>
          <a:xfrm>
            <a:off x="8128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5"/>
          <p:cNvSpPr txBox="1"/>
          <p:nvPr>
            <p:ph idx="11" type="ftr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5"/>
          <p:cNvSpPr txBox="1"/>
          <p:nvPr>
            <p:ph idx="12" type="sldNum"/>
          </p:nvPr>
        </p:nvSpPr>
        <p:spPr>
          <a:xfrm>
            <a:off x="87376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6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26"/>
          <p:cNvSpPr txBox="1"/>
          <p:nvPr>
            <p:ph idx="1" type="body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1" name="Google Shape;51;p26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□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■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■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9pPr>
          </a:lstStyle>
          <a:p/>
        </p:txBody>
      </p:sp>
      <p:sp>
        <p:nvSpPr>
          <p:cNvPr id="52" name="Google Shape;52;p26"/>
          <p:cNvSpPr txBox="1"/>
          <p:nvPr>
            <p:ph idx="3" type="body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3" name="Google Shape;53;p26"/>
          <p:cNvSpPr txBox="1"/>
          <p:nvPr>
            <p:ph idx="4" type="body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□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■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■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9pPr>
          </a:lstStyle>
          <a:p/>
        </p:txBody>
      </p:sp>
      <p:sp>
        <p:nvSpPr>
          <p:cNvPr id="54" name="Google Shape;54;p26"/>
          <p:cNvSpPr txBox="1"/>
          <p:nvPr>
            <p:ph idx="10" type="dt"/>
          </p:nvPr>
        </p:nvSpPr>
        <p:spPr>
          <a:xfrm>
            <a:off x="8128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6"/>
          <p:cNvSpPr txBox="1"/>
          <p:nvPr>
            <p:ph idx="11" type="ftr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6"/>
          <p:cNvSpPr txBox="1"/>
          <p:nvPr>
            <p:ph idx="12" type="sldNum"/>
          </p:nvPr>
        </p:nvSpPr>
        <p:spPr>
          <a:xfrm>
            <a:off x="87376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7"/>
          <p:cNvSpPr txBox="1"/>
          <p:nvPr>
            <p:ph idx="10" type="dt"/>
          </p:nvPr>
        </p:nvSpPr>
        <p:spPr>
          <a:xfrm>
            <a:off x="8128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7"/>
          <p:cNvSpPr txBox="1"/>
          <p:nvPr>
            <p:ph idx="11" type="ftr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7"/>
          <p:cNvSpPr txBox="1"/>
          <p:nvPr>
            <p:ph idx="12" type="sldNum"/>
          </p:nvPr>
        </p:nvSpPr>
        <p:spPr>
          <a:xfrm>
            <a:off x="87376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8"/>
          <p:cNvSpPr txBox="1"/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8"/>
          <p:cNvSpPr txBox="1"/>
          <p:nvPr>
            <p:ph idx="1" type="body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□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■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□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■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000"/>
              <a:buChar char="▪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000"/>
              <a:buChar char="▪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000"/>
              <a:buChar char="▪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000"/>
              <a:buChar char="▪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000"/>
              <a:buChar char="▪"/>
              <a:defRPr sz="2000"/>
            </a:lvl9pPr>
          </a:lstStyle>
          <a:p/>
        </p:txBody>
      </p:sp>
      <p:sp>
        <p:nvSpPr>
          <p:cNvPr id="64" name="Google Shape;64;p28"/>
          <p:cNvSpPr txBox="1"/>
          <p:nvPr>
            <p:ph idx="2" type="body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225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225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225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225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225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8"/>
          <p:cNvSpPr txBox="1"/>
          <p:nvPr>
            <p:ph idx="10" type="dt"/>
          </p:nvPr>
        </p:nvSpPr>
        <p:spPr>
          <a:xfrm>
            <a:off x="8128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8"/>
          <p:cNvSpPr txBox="1"/>
          <p:nvPr>
            <p:ph idx="11" type="ftr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8"/>
          <p:cNvSpPr txBox="1"/>
          <p:nvPr>
            <p:ph idx="12" type="sldNum"/>
          </p:nvPr>
        </p:nvSpPr>
        <p:spPr>
          <a:xfrm>
            <a:off x="87376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9"/>
          <p:cNvSpPr txBox="1"/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9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71" name="Google Shape;71;p29"/>
          <p:cNvSpPr txBox="1"/>
          <p:nvPr>
            <p:ph idx="1" type="body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225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225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225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225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225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72" name="Google Shape;72;p29"/>
          <p:cNvSpPr txBox="1"/>
          <p:nvPr>
            <p:ph idx="10" type="dt"/>
          </p:nvPr>
        </p:nvSpPr>
        <p:spPr>
          <a:xfrm>
            <a:off x="8128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9"/>
          <p:cNvSpPr txBox="1"/>
          <p:nvPr>
            <p:ph idx="11" type="ftr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9"/>
          <p:cNvSpPr txBox="1"/>
          <p:nvPr>
            <p:ph idx="12" type="sldNum"/>
          </p:nvPr>
        </p:nvSpPr>
        <p:spPr>
          <a:xfrm>
            <a:off x="87376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0"/>
          <p:cNvSpPr txBox="1"/>
          <p:nvPr>
            <p:ph type="title"/>
          </p:nvPr>
        </p:nvSpPr>
        <p:spPr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0"/>
          <p:cNvSpPr txBox="1"/>
          <p:nvPr>
            <p:ph idx="1" type="body"/>
          </p:nvPr>
        </p:nvSpPr>
        <p:spPr>
          <a:xfrm rot="5400000">
            <a:off x="3956051" y="-1447800"/>
            <a:ext cx="4267200" cy="106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indent="-342900" lvl="4" marL="22860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6pPr>
            <a:lvl7pPr indent="-342900" lvl="6" marL="3200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7pPr>
            <a:lvl8pPr indent="-342900" lvl="7" marL="3657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8pPr>
            <a:lvl9pPr indent="-342900" lvl="8" marL="41148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  <p:sp>
        <p:nvSpPr>
          <p:cNvPr id="78" name="Google Shape;78;p30"/>
          <p:cNvSpPr txBox="1"/>
          <p:nvPr>
            <p:ph idx="10" type="dt"/>
          </p:nvPr>
        </p:nvSpPr>
        <p:spPr>
          <a:xfrm>
            <a:off x="8128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0"/>
          <p:cNvSpPr txBox="1"/>
          <p:nvPr>
            <p:ph idx="11" type="ftr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0"/>
          <p:cNvSpPr txBox="1"/>
          <p:nvPr>
            <p:ph idx="12" type="sldNum"/>
          </p:nvPr>
        </p:nvSpPr>
        <p:spPr>
          <a:xfrm>
            <a:off x="87376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31"/>
          <p:cNvSpPr txBox="1"/>
          <p:nvPr>
            <p:ph type="title"/>
          </p:nvPr>
        </p:nvSpPr>
        <p:spPr>
          <a:xfrm rot="5400000">
            <a:off x="7242176" y="1827742"/>
            <a:ext cx="5715000" cy="266911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1"/>
          <p:cNvSpPr txBox="1"/>
          <p:nvPr>
            <p:ph idx="1" type="body"/>
          </p:nvPr>
        </p:nvSpPr>
        <p:spPr>
          <a:xfrm rot="5400000">
            <a:off x="1801284" y="-740833"/>
            <a:ext cx="5715000" cy="78062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indent="-342900" lvl="4" marL="22860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6pPr>
            <a:lvl7pPr indent="-342900" lvl="6" marL="3200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7pPr>
            <a:lvl8pPr indent="-342900" lvl="7" marL="3657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8pPr>
            <a:lvl9pPr indent="-342900" lvl="8" marL="41148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  <p:sp>
        <p:nvSpPr>
          <p:cNvPr id="84" name="Google Shape;84;p31"/>
          <p:cNvSpPr txBox="1"/>
          <p:nvPr>
            <p:ph idx="10" type="dt"/>
          </p:nvPr>
        </p:nvSpPr>
        <p:spPr>
          <a:xfrm>
            <a:off x="8128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31"/>
          <p:cNvSpPr txBox="1"/>
          <p:nvPr>
            <p:ph idx="11" type="ftr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31"/>
          <p:cNvSpPr txBox="1"/>
          <p:nvPr>
            <p:ph idx="12" type="sldNum"/>
          </p:nvPr>
        </p:nvSpPr>
        <p:spPr>
          <a:xfrm>
            <a:off x="87376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 rotWithShape="1">
          <a:blip r:embed="rId1">
            <a:alphaModFix/>
          </a:blip>
          <a:tile algn="tl" flip="none" tx="0" sx="100000" ty="0" sy="100000"/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0"/>
          <p:cNvSpPr txBox="1"/>
          <p:nvPr>
            <p:ph type="title"/>
          </p:nvPr>
        </p:nvSpPr>
        <p:spPr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8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8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8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8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8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8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8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8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8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11" name="Google Shape;11;p20"/>
          <p:cNvSpPr txBox="1"/>
          <p:nvPr>
            <p:ph idx="1" type="body"/>
          </p:nvPr>
        </p:nvSpPr>
        <p:spPr>
          <a:xfrm>
            <a:off x="755651" y="1752600"/>
            <a:ext cx="10668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191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Noto Sans Symbols"/>
              <a:buChar char="□"/>
              <a:defRPr b="0" i="0" sz="3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393700" lvl="1" marL="91440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Noto Sans Symbols"/>
              <a:buChar char="■"/>
              <a:defRPr b="0" i="0" sz="26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374650" lvl="2" marL="1371600" marR="0" rtl="0" algn="l">
              <a:lnSpc>
                <a:spcPct val="100000"/>
              </a:lnSpc>
              <a:spcBef>
                <a:spcPts val="460"/>
              </a:spcBef>
              <a:spcAft>
                <a:spcPts val="0"/>
              </a:spcAft>
              <a:buClr>
                <a:schemeClr val="accent2"/>
              </a:buClr>
              <a:buSzPts val="2300"/>
              <a:buFont typeface="Noto Sans Symbols"/>
              <a:buChar char="□"/>
              <a:defRPr b="0" i="0" sz="23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12" name="Google Shape;12;p20"/>
          <p:cNvSpPr/>
          <p:nvPr/>
        </p:nvSpPr>
        <p:spPr>
          <a:xfrm>
            <a:off x="812800" y="1566864"/>
            <a:ext cx="10610851" cy="109537"/>
          </a:xfrm>
          <a:custGeom>
            <a:rect b="b" l="l" r="r" t="t"/>
            <a:pathLst>
              <a:path extrusionOk="0" h="1000" w="100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extrusionOk="0" h="1000" w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cxnSp>
        <p:nvCxnSpPr>
          <p:cNvPr id="13" name="Google Shape;13;p20"/>
          <p:cNvCxnSpPr/>
          <p:nvPr/>
        </p:nvCxnSpPr>
        <p:spPr>
          <a:xfrm>
            <a:off x="812800" y="6172200"/>
            <a:ext cx="105664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" name="Google Shape;14;p20"/>
          <p:cNvSpPr txBox="1"/>
          <p:nvPr>
            <p:ph idx="10" type="dt"/>
          </p:nvPr>
        </p:nvSpPr>
        <p:spPr>
          <a:xfrm>
            <a:off x="8128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15" name="Google Shape;15;p20"/>
          <p:cNvSpPr txBox="1"/>
          <p:nvPr>
            <p:ph idx="11" type="ftr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16" name="Google Shape;16;p20"/>
          <p:cNvSpPr txBox="1"/>
          <p:nvPr>
            <p:ph idx="12" type="sldNum"/>
          </p:nvPr>
        </p:nvSpPr>
        <p:spPr>
          <a:xfrm>
            <a:off x="87376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 rotWithShape="1">
          <a:blip r:embed="rId3">
            <a:alphaModFix/>
          </a:blip>
          <a:tile algn="tl" flip="none" tx="0" sx="100000" ty="0" sy="100000"/>
        </a:blip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"/>
          <p:cNvSpPr txBox="1"/>
          <p:nvPr/>
        </p:nvSpPr>
        <p:spPr>
          <a:xfrm>
            <a:off x="789712" y="2530618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50"/>
              <a:buFont typeface="Verdana"/>
              <a:buNone/>
            </a:pPr>
            <a:r>
              <a:rPr b="1" i="0" lang="en-US" sz="345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Real-Time Weapon Detection </a:t>
            </a:r>
            <a:r>
              <a:rPr b="1" lang="en-US" sz="34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Alert System </a:t>
            </a:r>
            <a:r>
              <a:rPr b="1" i="0" lang="en-US" sz="345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Using Custom YOLO v10 Model</a:t>
            </a:r>
            <a:endParaRPr b="1" i="0" sz="2200" u="none" cap="none" strike="noStrike">
              <a:solidFill>
                <a:srgbClr val="7030A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708660" y="5184140"/>
            <a:ext cx="36831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Noto Sans Symbols"/>
              <a:buNone/>
            </a:pPr>
            <a:r>
              <a:rPr b="1" i="0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Mrs.</a:t>
            </a:r>
            <a:r>
              <a:rPr b="1" lang="en-US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Selvarani K</a:t>
            </a:r>
            <a:endParaRPr b="1" i="0" sz="2400" u="none" cap="none" strike="noStrik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Noto Sans Symbols"/>
              <a:buNone/>
            </a:pPr>
            <a:r>
              <a:rPr b="1" i="0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="1" lang="en-US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sst. Professor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5824937" y="5184140"/>
            <a:ext cx="62502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Noto Sans Symbols"/>
              <a:buNone/>
            </a:pPr>
            <a:r>
              <a:rPr b="1" i="0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b="1" lang="en-US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enjamin Nicolas</a:t>
            </a:r>
            <a:r>
              <a:rPr b="1" i="0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-221801005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Noto Sans Symbols"/>
              <a:buNone/>
            </a:pPr>
            <a:r>
              <a:rPr b="1" i="0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="1" lang="en-US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harless Binny</a:t>
            </a:r>
            <a:r>
              <a:rPr b="1" i="0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K -221801007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Noto Sans Symbols"/>
              <a:buNone/>
            </a:pPr>
            <a:r>
              <a:rPr b="1" i="0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b="1" lang="en-US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ikashini </a:t>
            </a:r>
            <a:r>
              <a:rPr b="1" i="0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 -221801062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708891" y="1213137"/>
            <a:ext cx="10515600" cy="7224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Verdana"/>
              <a:buNone/>
            </a:pPr>
            <a:r>
              <a:rPr b="1" i="0" lang="en-US" sz="35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Artificial Intelligence and Data Science </a:t>
            </a:r>
            <a:endParaRPr b="0" i="0" sz="21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5" name="Google Shape;95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1765" y="149225"/>
            <a:ext cx="2769235" cy="105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 rotWithShape="1">
          <a:blip r:embed="rId3">
            <a:alphaModFix/>
          </a:blip>
          <a:tile algn="tl" flip="none" tx="0" sx="100000" ty="0" sy="100000"/>
        </a:blip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"/>
          <p:cNvSpPr txBox="1"/>
          <p:nvPr>
            <p:ph type="title"/>
          </p:nvPr>
        </p:nvSpPr>
        <p:spPr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3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 and Motivation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1" name="Google Shape;101;p2"/>
          <p:cNvSpPr txBox="1"/>
          <p:nvPr>
            <p:ph idx="1" type="body"/>
          </p:nvPr>
        </p:nvSpPr>
        <p:spPr>
          <a:xfrm>
            <a:off x="755651" y="1752600"/>
            <a:ext cx="10668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US" sz="2200"/>
              <a:t>	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Conventional surveillance methods like CCTV monitoring and metal detectors are limited, as manual monitoring is error-prone and slow, while metal detectors only detect metallic weapons at fixed checkpoints, missing threats like ceramic knives or 3D-printed firearms. Face-based identification also fails when faces are obscured. 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Hence, there is a need for a real-time AI-powered system that can detect both metallic and non-metallic weapons, identify missing persons using faces and attributes, and instantly alert authorities to enhance safety in crowded public events.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2" name="Google Shape;102;p2"/>
          <p:cNvSpPr txBox="1"/>
          <p:nvPr>
            <p:ph idx="10" type="dt"/>
          </p:nvPr>
        </p:nvSpPr>
        <p:spPr>
          <a:xfrm>
            <a:off x="8128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Zeroth Review</a:t>
            </a:r>
            <a:endParaRPr/>
          </a:p>
        </p:txBody>
      </p:sp>
      <p:sp>
        <p:nvSpPr>
          <p:cNvPr id="103" name="Google Shape;103;p2"/>
          <p:cNvSpPr txBox="1"/>
          <p:nvPr>
            <p:ph idx="11" type="ftr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Department of </a:t>
            </a:r>
            <a:r>
              <a:rPr lang="en-US">
                <a:solidFill>
                  <a:srgbClr val="002060"/>
                </a:solidFill>
                <a:latin typeface="Verdana"/>
                <a:ea typeface="Verdana"/>
                <a:cs typeface="Verdana"/>
                <a:sym typeface="Verdana"/>
              </a:rPr>
              <a:t>Artificial Intelligence and Data Science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4" name="Google Shape;104;p2"/>
          <p:cNvSpPr txBox="1"/>
          <p:nvPr>
            <p:ph idx="12" type="sldNum"/>
          </p:nvPr>
        </p:nvSpPr>
        <p:spPr>
          <a:xfrm>
            <a:off x="87376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 rotWithShape="1">
          <a:blip r:embed="rId3">
            <a:alphaModFix/>
          </a:blip>
          <a:tile algn="tl" flip="none" tx="0" sx="100000" ty="0" sy="100000"/>
        </a:blip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"/>
          <p:cNvSpPr txBox="1"/>
          <p:nvPr>
            <p:ph type="title"/>
          </p:nvPr>
        </p:nvSpPr>
        <p:spPr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3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Objectives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0" name="Google Shape;110;p3"/>
          <p:cNvSpPr txBox="1"/>
          <p:nvPr>
            <p:ph idx="1" type="body"/>
          </p:nvPr>
        </p:nvSpPr>
        <p:spPr>
          <a:xfrm>
            <a:off x="755651" y="1752600"/>
            <a:ext cx="10668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200"/>
              <a:buFont typeface="Times New Roman"/>
              <a:buChar char="□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To develop an AI-powered surveillance system capable of </a:t>
            </a:r>
            <a:r>
              <a:rPr b="1" lang="en-US" sz="2200">
                <a:latin typeface="Times New Roman"/>
                <a:ea typeface="Times New Roman"/>
                <a:cs typeface="Times New Roman"/>
                <a:sym typeface="Times New Roman"/>
              </a:rPr>
              <a:t>detecting both metallic and non-metallic weapons in real time</a:t>
            </a: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 using a custom-trained YOLO model.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200"/>
              <a:buFont typeface="Times New Roman"/>
              <a:buChar char="□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To </a:t>
            </a:r>
            <a:r>
              <a:rPr b="1" lang="en-US" sz="2200">
                <a:latin typeface="Times New Roman"/>
                <a:ea typeface="Times New Roman"/>
                <a:cs typeface="Times New Roman"/>
                <a:sym typeface="Times New Roman"/>
              </a:rPr>
              <a:t>identify missing persons in live video streams</a:t>
            </a: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 through facial recognition and </a:t>
            </a:r>
            <a:r>
              <a:rPr b="1" lang="en-US" sz="2200">
                <a:latin typeface="Times New Roman"/>
                <a:ea typeface="Times New Roman"/>
                <a:cs typeface="Times New Roman"/>
                <a:sym typeface="Times New Roman"/>
              </a:rPr>
              <a:t>attribute-based matching</a:t>
            </a: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 (clothing, accessories, etc.).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200"/>
              <a:buFont typeface="Times New Roman"/>
              <a:buChar char="□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To </a:t>
            </a:r>
            <a:r>
              <a:rPr b="1" lang="en-US" sz="2200">
                <a:latin typeface="Times New Roman"/>
                <a:ea typeface="Times New Roman"/>
                <a:cs typeface="Times New Roman"/>
                <a:sym typeface="Times New Roman"/>
              </a:rPr>
              <a:t>provide instant automated alerts</a:t>
            </a: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 through buzzer, SMS, email, or dashboard notifications when a threat or missing person is detected.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200"/>
              <a:buFont typeface="Times New Roman"/>
              <a:buChar char="□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To build a </a:t>
            </a:r>
            <a:r>
              <a:rPr b="1" lang="en-US" sz="2200">
                <a:latin typeface="Times New Roman"/>
                <a:ea typeface="Times New Roman"/>
                <a:cs typeface="Times New Roman"/>
                <a:sym typeface="Times New Roman"/>
              </a:rPr>
              <a:t>centralized web dashboard</a:t>
            </a: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 for multi-camera monitoring, detection logs, and real-time status visualization.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Noto Sans Symbols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Noto Sans Symbols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Noto Sans Symbols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Noto Sans Symbols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Noto Sans Symbols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Noto Sans Symbols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Noto Sans Symbols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Noto Sans Symbols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1" name="Google Shape;111;p3"/>
          <p:cNvSpPr txBox="1"/>
          <p:nvPr>
            <p:ph idx="10" type="dt"/>
          </p:nvPr>
        </p:nvSpPr>
        <p:spPr>
          <a:xfrm>
            <a:off x="8128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Zeroth Review</a:t>
            </a:r>
            <a:endParaRPr/>
          </a:p>
        </p:txBody>
      </p:sp>
      <p:sp>
        <p:nvSpPr>
          <p:cNvPr id="112" name="Google Shape;112;p3"/>
          <p:cNvSpPr txBox="1"/>
          <p:nvPr>
            <p:ph idx="11" type="ftr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Department of </a:t>
            </a:r>
            <a:r>
              <a:rPr lang="en-US">
                <a:solidFill>
                  <a:srgbClr val="002060"/>
                </a:solidFill>
                <a:latin typeface="Verdana"/>
                <a:ea typeface="Verdana"/>
                <a:cs typeface="Verdana"/>
                <a:sym typeface="Verdana"/>
              </a:rPr>
              <a:t>Artificial Intelligence and Data Science</a:t>
            </a:r>
            <a:endParaRPr/>
          </a:p>
        </p:txBody>
      </p:sp>
      <p:sp>
        <p:nvSpPr>
          <p:cNvPr id="113" name="Google Shape;113;p3"/>
          <p:cNvSpPr txBox="1"/>
          <p:nvPr>
            <p:ph idx="12" type="sldNum"/>
          </p:nvPr>
        </p:nvSpPr>
        <p:spPr>
          <a:xfrm>
            <a:off x="87376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 rotWithShape="1">
          <a:blip r:embed="rId3">
            <a:alphaModFix/>
          </a:blip>
          <a:tile algn="tl" flip="none" tx="0" sx="100000" ty="0" sy="100000"/>
        </a:blip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"/>
          <p:cNvSpPr txBox="1"/>
          <p:nvPr>
            <p:ph type="title"/>
          </p:nvPr>
        </p:nvSpPr>
        <p:spPr>
          <a:xfrm>
            <a:off x="762008" y="277001"/>
            <a:ext cx="10668000" cy="1215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3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Abstract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" name="Google Shape;119;p5"/>
          <p:cNvSpPr txBox="1"/>
          <p:nvPr>
            <p:ph idx="1" type="body"/>
          </p:nvPr>
        </p:nvSpPr>
        <p:spPr>
          <a:xfrm>
            <a:off x="812800" y="1826342"/>
            <a:ext cx="10668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45720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200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Public safety in large gatherings is often compromised by the limitations of manual CCTV monitoring and metal detectors, which are slow, error-prone, and unable to detect non-metallic threats. This project presents an AI-powered surveillance system using custom YOLO models for real-time weapon detection and missing person identification. The system combines face recognition with attribute-based matching, supports multi-camera integration, and provides instant alerts through a centralized dashboard. By leveraging deep learning and edge computing, it enhances accuracy, reduces response time, and strengthens security in crowded public spaces.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0" name="Google Shape;120;p5"/>
          <p:cNvSpPr txBox="1"/>
          <p:nvPr>
            <p:ph idx="10" type="dt"/>
          </p:nvPr>
        </p:nvSpPr>
        <p:spPr>
          <a:xfrm>
            <a:off x="8128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Zeroth Review</a:t>
            </a:r>
            <a:endParaRPr/>
          </a:p>
        </p:txBody>
      </p:sp>
      <p:sp>
        <p:nvSpPr>
          <p:cNvPr id="121" name="Google Shape;121;p5"/>
          <p:cNvSpPr txBox="1"/>
          <p:nvPr>
            <p:ph idx="11" type="ftr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Department of </a:t>
            </a:r>
            <a:r>
              <a:rPr lang="en-US">
                <a:solidFill>
                  <a:srgbClr val="002060"/>
                </a:solidFill>
                <a:latin typeface="Verdana"/>
                <a:ea typeface="Verdana"/>
                <a:cs typeface="Verdana"/>
                <a:sym typeface="Verdana"/>
              </a:rPr>
              <a:t>Artificial Intelligence and Data Science</a:t>
            </a:r>
            <a:endParaRPr/>
          </a:p>
        </p:txBody>
      </p:sp>
      <p:sp>
        <p:nvSpPr>
          <p:cNvPr id="122" name="Google Shape;122;p5"/>
          <p:cNvSpPr txBox="1"/>
          <p:nvPr>
            <p:ph idx="12" type="sldNum"/>
          </p:nvPr>
        </p:nvSpPr>
        <p:spPr>
          <a:xfrm>
            <a:off x="87376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"/>
          <p:cNvSpPr txBox="1"/>
          <p:nvPr>
            <p:ph type="title"/>
          </p:nvPr>
        </p:nvSpPr>
        <p:spPr>
          <a:xfrm>
            <a:off x="762000" y="568975"/>
            <a:ext cx="10668000" cy="833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Times New Roman"/>
              <a:buNone/>
            </a:pPr>
            <a:r>
              <a:rPr b="1" lang="en-US" sz="3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Existing System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8" name="Google Shape;128;p4"/>
          <p:cNvSpPr txBox="1"/>
          <p:nvPr>
            <p:ph idx="1" type="body"/>
          </p:nvPr>
        </p:nvSpPr>
        <p:spPr>
          <a:xfrm>
            <a:off x="1524001" y="2094875"/>
            <a:ext cx="10668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800"/>
              <a:buNone/>
            </a:pPr>
            <a:br>
              <a:rPr b="0" i="0" lang="en-US" sz="2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b="0" i="0" sz="28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sp>
        <p:nvSpPr>
          <p:cNvPr id="129" name="Google Shape;129;p4"/>
          <p:cNvSpPr txBox="1"/>
          <p:nvPr>
            <p:ph idx="10" type="dt"/>
          </p:nvPr>
        </p:nvSpPr>
        <p:spPr>
          <a:xfrm>
            <a:off x="812800" y="6245225"/>
            <a:ext cx="26415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</a:pPr>
            <a:r>
              <a:rPr lang="en-US"/>
              <a:t>Zeroth Review</a:t>
            </a:r>
            <a:endParaRPr/>
          </a:p>
        </p:txBody>
      </p:sp>
      <p:sp>
        <p:nvSpPr>
          <p:cNvPr id="130" name="Google Shape;130;p4"/>
          <p:cNvSpPr txBox="1"/>
          <p:nvPr>
            <p:ph idx="11" type="ftr"/>
          </p:nvPr>
        </p:nvSpPr>
        <p:spPr>
          <a:xfrm>
            <a:off x="4165600" y="6245225"/>
            <a:ext cx="38607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</a:pPr>
            <a:r>
              <a:rPr lang="en-US"/>
              <a:t>Department of </a:t>
            </a:r>
            <a:r>
              <a:rPr lang="en-US">
                <a:solidFill>
                  <a:srgbClr val="002060"/>
                </a:solidFill>
                <a:latin typeface="Verdana"/>
                <a:ea typeface="Verdana"/>
                <a:cs typeface="Verdana"/>
                <a:sym typeface="Verdana"/>
              </a:rPr>
              <a:t>Artificial Intelligence and Data Science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</a:pPr>
            <a:r>
              <a:t/>
            </a:r>
            <a:endParaRPr/>
          </a:p>
        </p:txBody>
      </p:sp>
      <p:sp>
        <p:nvSpPr>
          <p:cNvPr id="131" name="Google Shape;131;p4"/>
          <p:cNvSpPr txBox="1"/>
          <p:nvPr>
            <p:ph idx="12" type="sldNum"/>
          </p:nvPr>
        </p:nvSpPr>
        <p:spPr>
          <a:xfrm>
            <a:off x="8737600" y="6245225"/>
            <a:ext cx="26415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132" name="Google Shape;132;p4"/>
          <p:cNvGraphicFramePr/>
          <p:nvPr/>
        </p:nvGraphicFramePr>
        <p:xfrm>
          <a:off x="1258530" y="190745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{73F6BD4E-BA06-4D4B-85F2-4C4C1C3F5D4D}</a:tableStyleId>
              </a:tblPr>
              <a:tblGrid>
                <a:gridCol w="686025"/>
                <a:gridCol w="1509750"/>
                <a:gridCol w="1062100"/>
                <a:gridCol w="3144075"/>
                <a:gridCol w="2657625"/>
              </a:tblGrid>
              <a:tr h="364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Times New Roman"/>
                        <a:buNone/>
                      </a:pPr>
                      <a:r>
                        <a:rPr b="1" lang="en-US" sz="13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S.no</a:t>
                      </a:r>
                      <a:endParaRPr b="1"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Times New Roman"/>
                        <a:buNone/>
                      </a:pPr>
                      <a:r>
                        <a:rPr b="1" lang="en-US" sz="13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Model/Technique Used</a:t>
                      </a:r>
                      <a:endParaRPr b="1"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Times New Roman"/>
                        <a:buNone/>
                      </a:pPr>
                      <a:r>
                        <a:rPr b="1" lang="en-US" sz="13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Author(s)</a:t>
                      </a:r>
                      <a:endParaRPr b="1"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Times New Roman"/>
                        <a:buNone/>
                      </a:pPr>
                      <a:r>
                        <a:rPr b="1" lang="en-US" sz="13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Description</a:t>
                      </a:r>
                      <a:endParaRPr b="1"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Times New Roman"/>
                        <a:buNone/>
                      </a:pPr>
                      <a:r>
                        <a:rPr b="1" lang="en-US" sz="13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Outcome</a:t>
                      </a:r>
                      <a:endParaRPr b="1"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77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Times New Roman"/>
                        <a:buNone/>
                      </a:pPr>
                      <a:r>
                        <a:rPr lang="en-US" sz="13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1.</a:t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Times New Roman"/>
                        <a:buNone/>
                      </a:pPr>
                      <a:r>
                        <a:rPr lang="en-US" sz="13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HOG + SVM</a:t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Times New Roman"/>
                        <a:buNone/>
                      </a:pPr>
                      <a:r>
                        <a:rPr lang="en-US" sz="13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Dalal &amp; Triggs</a:t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Times New Roman"/>
                        <a:buNone/>
                      </a:pPr>
                      <a:r>
                        <a:rPr lang="en-US" sz="13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Proposed the Histogram of Oriented Gradients (HOG) feature extraction method with Support Vector Machine (SVM) classifier for pedestrian detection. HOG captures edge/gradient information, and SVM classifies the detected regions.</a:t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Times New Roman"/>
                        <a:buNone/>
                      </a:pPr>
                      <a:r>
                        <a:rPr lang="en-US" sz="13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Achieved good accuracy for human detection in static images, but computationally expensive and slow for real-time video.</a:t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83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Times New Roman"/>
                        <a:buNone/>
                      </a:pPr>
                      <a:r>
                        <a:rPr lang="en-US" sz="13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2.</a:t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Times New Roman"/>
                        <a:buNone/>
                      </a:pPr>
                      <a:r>
                        <a:rPr lang="en-US" sz="13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Haar Cascades</a:t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Times New Roman"/>
                        <a:buNone/>
                      </a:pPr>
                      <a:r>
                        <a:rPr lang="en-US" sz="13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Viola &amp; Jones (2001)</a:t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Times New Roman"/>
                        <a:buNone/>
                      </a:pPr>
                      <a:r>
                        <a:rPr lang="en-US" sz="13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Introduced a rapid object detection method using Haar-like features and AdaBoost classifiers in a cascade structure. Widely used for face detection.</a:t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Times New Roman"/>
                        <a:buNone/>
                      </a:pPr>
                      <a:r>
                        <a:rPr lang="en-US" sz="13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Very fast for frontal face detection but not robust to varying lighting, pose, and small object sizes; high false positives in complex scenes.</a:t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0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Times New Roman"/>
                        <a:buNone/>
                      </a:pPr>
                      <a:r>
                        <a:rPr lang="en-US" sz="13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3.</a:t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Times New Roman"/>
                        <a:buNone/>
                      </a:pPr>
                      <a:r>
                        <a:rPr lang="en-US" sz="13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Faster R-CNN</a:t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Times New Roman"/>
                        <a:buNone/>
                      </a:pPr>
                      <a:r>
                        <a:rPr lang="en-US" sz="13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Ren et al.</a:t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Times New Roman"/>
                        <a:buNone/>
                      </a:pPr>
                      <a:r>
                        <a:rPr lang="en-US" sz="13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Developed a two-stage deep learning approach where a Region Proposal Network (RPN) generates candidate bounding boxes, and a CNN classifies and refines them.</a:t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Times New Roman"/>
                        <a:buNone/>
                      </a:pPr>
                      <a:r>
                        <a:rPr lang="en-US" sz="13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High detection accuracy for various object categories but significantly slower than YOLO for real-time applications.</a:t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aa439a694a_1_8"/>
          <p:cNvSpPr txBox="1"/>
          <p:nvPr>
            <p:ph type="title"/>
          </p:nvPr>
        </p:nvSpPr>
        <p:spPr>
          <a:xfrm>
            <a:off x="762000" y="568975"/>
            <a:ext cx="10668000" cy="833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Times New Roman"/>
              <a:buNone/>
            </a:pPr>
            <a:r>
              <a:rPr b="1" lang="en-US" sz="3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Limitations of </a:t>
            </a:r>
            <a:r>
              <a:rPr b="1" lang="en-US" sz="3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</a:t>
            </a:r>
            <a:r>
              <a:rPr b="1" lang="en-US" sz="3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isting System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8" name="Google Shape;138;g3aa439a694a_1_8"/>
          <p:cNvSpPr txBox="1"/>
          <p:nvPr>
            <p:ph idx="1" type="body"/>
          </p:nvPr>
        </p:nvSpPr>
        <p:spPr>
          <a:xfrm>
            <a:off x="945925" y="1816650"/>
            <a:ext cx="104841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□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Manual CCTV monitoring is </a:t>
            </a: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slow, error-prone, and depends fully on human attention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, causing delayed threat detection.</a:t>
            </a:r>
            <a:b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□"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Metal detectors identify only metallic weapons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, failing to detect non-metallic and 3D-printed weapons.</a:t>
            </a:r>
            <a:b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□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Traditional face recognition systems </a:t>
            </a: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fail when the face is obscured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, turned away, or partially covered.</a:t>
            </a:r>
            <a:b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□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Security response is </a:t>
            </a: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not automated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, requiring manual alerting and communication — causing delayed emergency action.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800"/>
              <a:buNone/>
            </a:pPr>
            <a:br>
              <a:rPr b="0" i="0" lang="en-US" sz="2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b="0" i="0" sz="28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sp>
        <p:nvSpPr>
          <p:cNvPr id="139" name="Google Shape;139;g3aa439a694a_1_8"/>
          <p:cNvSpPr txBox="1"/>
          <p:nvPr>
            <p:ph idx="10" type="dt"/>
          </p:nvPr>
        </p:nvSpPr>
        <p:spPr>
          <a:xfrm>
            <a:off x="812800" y="6245225"/>
            <a:ext cx="26415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</a:pPr>
            <a:r>
              <a:rPr lang="en-US"/>
              <a:t>Zeroth Review</a:t>
            </a:r>
            <a:endParaRPr/>
          </a:p>
        </p:txBody>
      </p:sp>
      <p:sp>
        <p:nvSpPr>
          <p:cNvPr id="140" name="Google Shape;140;g3aa439a694a_1_8"/>
          <p:cNvSpPr txBox="1"/>
          <p:nvPr>
            <p:ph idx="11" type="ftr"/>
          </p:nvPr>
        </p:nvSpPr>
        <p:spPr>
          <a:xfrm>
            <a:off x="4165600" y="6245225"/>
            <a:ext cx="38607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</a:pPr>
            <a:r>
              <a:rPr lang="en-US"/>
              <a:t>Department of </a:t>
            </a:r>
            <a:r>
              <a:rPr lang="en-US">
                <a:solidFill>
                  <a:srgbClr val="002060"/>
                </a:solidFill>
                <a:latin typeface="Verdana"/>
                <a:ea typeface="Verdana"/>
                <a:cs typeface="Verdana"/>
                <a:sym typeface="Verdana"/>
              </a:rPr>
              <a:t>Artificial Intelligence and Data Science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</a:pPr>
            <a:r>
              <a:t/>
            </a:r>
            <a:endParaRPr/>
          </a:p>
        </p:txBody>
      </p:sp>
      <p:sp>
        <p:nvSpPr>
          <p:cNvPr id="141" name="Google Shape;141;g3aa439a694a_1_8"/>
          <p:cNvSpPr txBox="1"/>
          <p:nvPr>
            <p:ph idx="12" type="sldNum"/>
          </p:nvPr>
        </p:nvSpPr>
        <p:spPr>
          <a:xfrm>
            <a:off x="8737600" y="6245225"/>
            <a:ext cx="26415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aa439a694a_1_18"/>
          <p:cNvSpPr txBox="1"/>
          <p:nvPr>
            <p:ph type="title"/>
          </p:nvPr>
        </p:nvSpPr>
        <p:spPr>
          <a:xfrm>
            <a:off x="762000" y="568975"/>
            <a:ext cx="10668000" cy="833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Times New Roman"/>
              <a:buNone/>
            </a:pPr>
            <a:r>
              <a:rPr b="1" lang="en-US" sz="3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</a:t>
            </a:r>
            <a:r>
              <a:rPr b="1" lang="en-US" sz="3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7" name="Google Shape;147;g3aa439a694a_1_18"/>
          <p:cNvSpPr txBox="1"/>
          <p:nvPr>
            <p:ph idx="1" type="body"/>
          </p:nvPr>
        </p:nvSpPr>
        <p:spPr>
          <a:xfrm>
            <a:off x="945925" y="1816650"/>
            <a:ext cx="104841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□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The proposed system uses </a:t>
            </a:r>
            <a:r>
              <a:rPr b="1" lang="en-US" sz="2200">
                <a:latin typeface="Times New Roman"/>
                <a:ea typeface="Times New Roman"/>
                <a:cs typeface="Times New Roman"/>
                <a:sym typeface="Times New Roman"/>
              </a:rPr>
              <a:t>YOLO-based real-time object detection</a:t>
            </a: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 to identify both metallic and non-metallic weapons from live CCTV/IP camera footage.</a:t>
            </a:r>
            <a:b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□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b="1" lang="en-US" sz="2200">
                <a:latin typeface="Times New Roman"/>
                <a:ea typeface="Times New Roman"/>
                <a:cs typeface="Times New Roman"/>
                <a:sym typeface="Times New Roman"/>
              </a:rPr>
              <a:t>face recognition and attribute-matching module</a:t>
            </a: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 is integrated to identify missing persons even when the face is partially covered.</a:t>
            </a:r>
            <a:b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□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b="1" lang="en-US" sz="2200">
                <a:latin typeface="Times New Roman"/>
                <a:ea typeface="Times New Roman"/>
                <a:cs typeface="Times New Roman"/>
                <a:sym typeface="Times New Roman"/>
              </a:rPr>
              <a:t>centralized surveillance dashboard</a:t>
            </a: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 enables multi-camera monitoring, live video streaming, and alert visualization for security teams.</a:t>
            </a:r>
            <a:b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□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An </a:t>
            </a:r>
            <a:r>
              <a:rPr b="1" lang="en-US" sz="2200">
                <a:latin typeface="Times New Roman"/>
                <a:ea typeface="Times New Roman"/>
                <a:cs typeface="Times New Roman"/>
                <a:sym typeface="Times New Roman"/>
              </a:rPr>
              <a:t>automated alert mechanism</a:t>
            </a: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 triggers buzzer, SMS, email, and dashboard notifications instantly when a threat or missing person is detected.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800"/>
              <a:buNone/>
            </a:pPr>
            <a:br>
              <a:rPr b="0" i="0" lang="en-US" sz="2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b="0" i="0" sz="28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sp>
        <p:nvSpPr>
          <p:cNvPr id="148" name="Google Shape;148;g3aa439a694a_1_18"/>
          <p:cNvSpPr txBox="1"/>
          <p:nvPr>
            <p:ph idx="10" type="dt"/>
          </p:nvPr>
        </p:nvSpPr>
        <p:spPr>
          <a:xfrm>
            <a:off x="812800" y="6245225"/>
            <a:ext cx="26415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</a:pPr>
            <a:r>
              <a:rPr lang="en-US"/>
              <a:t>Zeroth Review</a:t>
            </a:r>
            <a:endParaRPr/>
          </a:p>
        </p:txBody>
      </p:sp>
      <p:sp>
        <p:nvSpPr>
          <p:cNvPr id="149" name="Google Shape;149;g3aa439a694a_1_18"/>
          <p:cNvSpPr txBox="1"/>
          <p:nvPr>
            <p:ph idx="11" type="ftr"/>
          </p:nvPr>
        </p:nvSpPr>
        <p:spPr>
          <a:xfrm>
            <a:off x="4165600" y="6245225"/>
            <a:ext cx="38607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</a:pPr>
            <a:r>
              <a:rPr lang="en-US"/>
              <a:t>Department of </a:t>
            </a:r>
            <a:r>
              <a:rPr lang="en-US">
                <a:solidFill>
                  <a:srgbClr val="002060"/>
                </a:solidFill>
                <a:latin typeface="Verdana"/>
                <a:ea typeface="Verdana"/>
                <a:cs typeface="Verdana"/>
                <a:sym typeface="Verdana"/>
              </a:rPr>
              <a:t>Artificial Intelligence and Data Science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</a:pPr>
            <a:r>
              <a:t/>
            </a:r>
            <a:endParaRPr/>
          </a:p>
        </p:txBody>
      </p:sp>
      <p:sp>
        <p:nvSpPr>
          <p:cNvPr id="150" name="Google Shape;150;g3aa439a694a_1_18"/>
          <p:cNvSpPr txBox="1"/>
          <p:nvPr>
            <p:ph idx="12" type="sldNum"/>
          </p:nvPr>
        </p:nvSpPr>
        <p:spPr>
          <a:xfrm>
            <a:off x="8737600" y="6245225"/>
            <a:ext cx="26415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aa439a694a_1_27"/>
          <p:cNvSpPr txBox="1"/>
          <p:nvPr>
            <p:ph type="title"/>
          </p:nvPr>
        </p:nvSpPr>
        <p:spPr>
          <a:xfrm>
            <a:off x="762000" y="568975"/>
            <a:ext cx="10668000" cy="833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Times New Roman"/>
              <a:buNone/>
            </a:pPr>
            <a:r>
              <a:rPr b="1" lang="en-US" sz="3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System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6" name="Google Shape;156;g3aa439a694a_1_27"/>
          <p:cNvSpPr txBox="1"/>
          <p:nvPr>
            <p:ph idx="10" type="dt"/>
          </p:nvPr>
        </p:nvSpPr>
        <p:spPr>
          <a:xfrm>
            <a:off x="812800" y="6245225"/>
            <a:ext cx="26415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</a:pPr>
            <a:r>
              <a:rPr lang="en-US"/>
              <a:t>Zeroth Review</a:t>
            </a:r>
            <a:endParaRPr/>
          </a:p>
        </p:txBody>
      </p:sp>
      <p:sp>
        <p:nvSpPr>
          <p:cNvPr id="157" name="Google Shape;157;g3aa439a694a_1_27"/>
          <p:cNvSpPr txBox="1"/>
          <p:nvPr>
            <p:ph idx="11" type="ftr"/>
          </p:nvPr>
        </p:nvSpPr>
        <p:spPr>
          <a:xfrm>
            <a:off x="4165600" y="6245225"/>
            <a:ext cx="38607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</a:pPr>
            <a:r>
              <a:rPr lang="en-US"/>
              <a:t>Department of </a:t>
            </a:r>
            <a:r>
              <a:rPr lang="en-US">
                <a:solidFill>
                  <a:srgbClr val="002060"/>
                </a:solidFill>
                <a:latin typeface="Verdana"/>
                <a:ea typeface="Verdana"/>
                <a:cs typeface="Verdana"/>
                <a:sym typeface="Verdana"/>
              </a:rPr>
              <a:t>Artificial Intelligence and Data Science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</a:pPr>
            <a:r>
              <a:t/>
            </a:r>
            <a:endParaRPr/>
          </a:p>
        </p:txBody>
      </p:sp>
      <p:sp>
        <p:nvSpPr>
          <p:cNvPr id="158" name="Google Shape;158;g3aa439a694a_1_27"/>
          <p:cNvSpPr txBox="1"/>
          <p:nvPr>
            <p:ph idx="12" type="sldNum"/>
          </p:nvPr>
        </p:nvSpPr>
        <p:spPr>
          <a:xfrm>
            <a:off x="8737600" y="6245225"/>
            <a:ext cx="26415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59" name="Google Shape;159;g3aa439a694a_1_27"/>
          <p:cNvPicPr preferRelativeResize="0"/>
          <p:nvPr/>
        </p:nvPicPr>
        <p:blipFill rotWithShape="1">
          <a:blip r:embed="rId3">
            <a:alphaModFix/>
          </a:blip>
          <a:srcRect b="0" l="0" r="0" t="3836"/>
          <a:stretch/>
        </p:blipFill>
        <p:spPr>
          <a:xfrm>
            <a:off x="932025" y="1866825"/>
            <a:ext cx="10113099" cy="413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aa439a694a_1_39"/>
          <p:cNvSpPr txBox="1"/>
          <p:nvPr>
            <p:ph type="title"/>
          </p:nvPr>
        </p:nvSpPr>
        <p:spPr>
          <a:xfrm>
            <a:off x="766233" y="304801"/>
            <a:ext cx="10668000" cy="12159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Module 1 : Person Re-identification</a:t>
            </a:r>
            <a:endParaRPr/>
          </a:p>
        </p:txBody>
      </p:sp>
      <p:sp>
        <p:nvSpPr>
          <p:cNvPr id="166" name="Google Shape;166;g3aa439a694a_1_39"/>
          <p:cNvSpPr txBox="1"/>
          <p:nvPr>
            <p:ph idx="1" type="body"/>
          </p:nvPr>
        </p:nvSpPr>
        <p:spPr>
          <a:xfrm>
            <a:off x="755651" y="1752600"/>
            <a:ext cx="10668000" cy="4267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300">
              <a:latin typeface="Arial"/>
              <a:ea typeface="Arial"/>
              <a:cs typeface="Arial"/>
              <a:sym typeface="Arial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200"/>
              <a:buFont typeface="Times New Roman"/>
              <a:buChar char="□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Captures live video frames from CCTV/IP cameras and detects human faces in real time.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200"/>
              <a:buFont typeface="Arial"/>
              <a:buChar char="□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Extracts </a:t>
            </a:r>
            <a:r>
              <a:rPr b="1" lang="en-US" sz="2200">
                <a:latin typeface="Times New Roman"/>
                <a:ea typeface="Times New Roman"/>
                <a:cs typeface="Times New Roman"/>
                <a:sym typeface="Times New Roman"/>
              </a:rPr>
              <a:t>facial embeddings</a:t>
            </a: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 using a deep learning model. Compares extracted embeddings with the </a:t>
            </a:r>
            <a:r>
              <a:rPr b="1" lang="en-US" sz="2200">
                <a:latin typeface="Times New Roman"/>
                <a:ea typeface="Times New Roman"/>
                <a:cs typeface="Times New Roman"/>
                <a:sym typeface="Times New Roman"/>
              </a:rPr>
              <a:t>missing persons database</a:t>
            </a: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 using similarity matching.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200"/>
              <a:buFont typeface="Arial"/>
              <a:buChar char="□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Identifies individuals even under </a:t>
            </a:r>
            <a:r>
              <a:rPr b="1" lang="en-US" sz="2200">
                <a:latin typeface="Times New Roman"/>
                <a:ea typeface="Times New Roman"/>
                <a:cs typeface="Times New Roman"/>
                <a:sym typeface="Times New Roman"/>
              </a:rPr>
              <a:t>varying lighting, pose, or partial face visibility</a:t>
            </a: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 and produce alert sound 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200"/>
              <a:buFont typeface="Arial"/>
              <a:buChar char="□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Sends automatic alerts to the surveillance dashboard upon </a:t>
            </a:r>
            <a:r>
              <a:rPr b="1" lang="en-US" sz="2200">
                <a:latin typeface="Times New Roman"/>
                <a:ea typeface="Times New Roman"/>
                <a:cs typeface="Times New Roman"/>
                <a:sym typeface="Times New Roman"/>
              </a:rPr>
              <a:t>positive identification</a:t>
            </a: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 of a missing person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n-US" sz="1100">
                <a:latin typeface="Arial"/>
                <a:ea typeface="Arial"/>
                <a:cs typeface="Arial"/>
                <a:sym typeface="Arial"/>
              </a:rPr>
            </a:b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g3aa439a694a_1_39"/>
          <p:cNvSpPr txBox="1"/>
          <p:nvPr>
            <p:ph idx="12" type="sldNum"/>
          </p:nvPr>
        </p:nvSpPr>
        <p:spPr>
          <a:xfrm>
            <a:off x="8737600" y="6245225"/>
            <a:ext cx="2641500" cy="476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 rotWithShape="1">
          <a:blip r:embed="rId3">
            <a:alphaModFix/>
          </a:blip>
          <a:tile algn="tl" flip="none" tx="0" sx="100000" ty="0" sy="100000"/>
        </a:blip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2"/>
          <p:cNvSpPr txBox="1"/>
          <p:nvPr>
            <p:ph type="title"/>
          </p:nvPr>
        </p:nvSpPr>
        <p:spPr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3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Overall Description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3" name="Google Shape;173;p12"/>
          <p:cNvSpPr txBox="1"/>
          <p:nvPr>
            <p:ph idx="1" type="body"/>
          </p:nvPr>
        </p:nvSpPr>
        <p:spPr>
          <a:xfrm>
            <a:off x="755651" y="1752600"/>
            <a:ext cx="10668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69900" lvl="0" marL="469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System Layers: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69900" lvl="0" marL="4699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Frontend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→ Web Dashboard + Live Video Feed Interface.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69900" lvl="0" marL="4699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Backend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→ Flask/Django + YOLO v10 (weapon &amp; person detection).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69900" lvl="0" marL="4699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Database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→ SQL/NoSQL (alerts, logs, missing persons database)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Features: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69900" lvl="0" marL="4699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Real-time detection of metallic &amp; non-metallic weapons</a:t>
            </a:r>
            <a:endParaRPr/>
          </a:p>
          <a:p>
            <a:pPr indent="-469900" lvl="0" marL="4699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Missing person identification via face + attribute matching</a:t>
            </a:r>
            <a:endParaRPr/>
          </a:p>
          <a:p>
            <a:pPr indent="-469900" lvl="0" marL="4699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Instant alerts through buzzer, email, or SMS</a:t>
            </a:r>
            <a:endParaRPr i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4" name="Google Shape;174;p12"/>
          <p:cNvSpPr txBox="1"/>
          <p:nvPr>
            <p:ph idx="10" type="dt"/>
          </p:nvPr>
        </p:nvSpPr>
        <p:spPr>
          <a:xfrm>
            <a:off x="8128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Zeroth Review</a:t>
            </a:r>
            <a:endParaRPr/>
          </a:p>
        </p:txBody>
      </p:sp>
      <p:sp>
        <p:nvSpPr>
          <p:cNvPr id="175" name="Google Shape;175;p12"/>
          <p:cNvSpPr txBox="1"/>
          <p:nvPr>
            <p:ph idx="11" type="ftr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Department of </a:t>
            </a:r>
            <a:r>
              <a:rPr lang="en-US">
                <a:solidFill>
                  <a:srgbClr val="002060"/>
                </a:solidFill>
                <a:latin typeface="Verdana"/>
                <a:ea typeface="Verdana"/>
                <a:cs typeface="Verdana"/>
                <a:sym typeface="Verdana"/>
              </a:rPr>
              <a:t>Artificial Intelligence and Data Science</a:t>
            </a:r>
            <a:endParaRPr/>
          </a:p>
        </p:txBody>
      </p:sp>
      <p:sp>
        <p:nvSpPr>
          <p:cNvPr id="176" name="Google Shape;176;p12"/>
          <p:cNvSpPr txBox="1"/>
          <p:nvPr>
            <p:ph idx="12" type="sldNum"/>
          </p:nvPr>
        </p:nvSpPr>
        <p:spPr>
          <a:xfrm>
            <a:off x="87376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 rotWithShape="1">
          <a:blip r:embed="rId3">
            <a:alphaModFix/>
          </a:blip>
          <a:tile algn="tl" flip="none" tx="0" sx="100000" ty="0" sy="100000"/>
        </a:blip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4"/>
          <p:cNvSpPr txBox="1"/>
          <p:nvPr>
            <p:ph type="title"/>
          </p:nvPr>
        </p:nvSpPr>
        <p:spPr>
          <a:xfrm>
            <a:off x="762008" y="304801"/>
            <a:ext cx="10668000" cy="1215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3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Algorithms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2" name="Google Shape;182;p14"/>
          <p:cNvSpPr txBox="1"/>
          <p:nvPr>
            <p:ph idx="1" type="body"/>
          </p:nvPr>
        </p:nvSpPr>
        <p:spPr>
          <a:xfrm>
            <a:off x="1028367" y="1749425"/>
            <a:ext cx="10668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Weapon Detection:</a:t>
            </a:r>
            <a:endParaRPr/>
          </a:p>
          <a:p>
            <a:pPr indent="-469900" lvl="0" marL="4699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Custom-trained YOLO v10 model.</a:t>
            </a:r>
            <a:endParaRPr/>
          </a:p>
          <a:p>
            <a:pPr indent="-469900" lvl="0" marL="4699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Detects both metallic &amp; non-metallic weapons (guns, knives, 3D-printed arms).</a:t>
            </a:r>
            <a:endParaRPr/>
          </a:p>
          <a:p>
            <a:pPr indent="-469900" lvl="0" marL="4699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Bounding boxes with confidence scores.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Missing Person Identification: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69900" lvl="0" marL="4699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Face recognition against database.</a:t>
            </a:r>
            <a:endParaRPr/>
          </a:p>
          <a:p>
            <a:pPr indent="-469900" lvl="0" marL="4699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Attribute-based matching (clothing color/pattern, accessories).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3" name="Google Shape;183;p14"/>
          <p:cNvSpPr txBox="1"/>
          <p:nvPr>
            <p:ph idx="10" type="dt"/>
          </p:nvPr>
        </p:nvSpPr>
        <p:spPr>
          <a:xfrm>
            <a:off x="8128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Zeroth Review</a:t>
            </a:r>
            <a:endParaRPr/>
          </a:p>
        </p:txBody>
      </p:sp>
      <p:sp>
        <p:nvSpPr>
          <p:cNvPr id="184" name="Google Shape;184;p14"/>
          <p:cNvSpPr txBox="1"/>
          <p:nvPr>
            <p:ph idx="11" type="ftr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Department of </a:t>
            </a:r>
            <a:r>
              <a:rPr lang="en-US">
                <a:solidFill>
                  <a:srgbClr val="002060"/>
                </a:solidFill>
                <a:latin typeface="Verdana"/>
                <a:ea typeface="Verdana"/>
                <a:cs typeface="Verdana"/>
                <a:sym typeface="Verdana"/>
              </a:rPr>
              <a:t>Artificial Intelligence and Data Science</a:t>
            </a:r>
            <a:endParaRPr/>
          </a:p>
        </p:txBody>
      </p:sp>
      <p:sp>
        <p:nvSpPr>
          <p:cNvPr id="185" name="Google Shape;185;p14"/>
          <p:cNvSpPr txBox="1"/>
          <p:nvPr>
            <p:ph idx="12" type="sldNum"/>
          </p:nvPr>
        </p:nvSpPr>
        <p:spPr>
          <a:xfrm>
            <a:off x="87376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 rotWithShape="1">
          <a:blip r:embed="rId3">
            <a:alphaModFix/>
          </a:blip>
          <a:tile algn="tl" flip="none" tx="0" sx="100000" ty="0" sy="100000"/>
        </a:blip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3"/>
          <p:cNvSpPr txBox="1"/>
          <p:nvPr>
            <p:ph type="title"/>
          </p:nvPr>
        </p:nvSpPr>
        <p:spPr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3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Features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1" name="Google Shape;191;p13"/>
          <p:cNvSpPr txBox="1"/>
          <p:nvPr>
            <p:ph idx="1" type="body"/>
          </p:nvPr>
        </p:nvSpPr>
        <p:spPr>
          <a:xfrm>
            <a:off x="762000" y="1821426"/>
            <a:ext cx="10668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69900" lvl="0" marL="469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60"/>
              <a:buFont typeface="Arial"/>
              <a:buChar char="•"/>
            </a:pPr>
            <a:r>
              <a:rPr b="1" lang="en-US" sz="2260">
                <a:latin typeface="Times New Roman"/>
                <a:ea typeface="Times New Roman"/>
                <a:cs typeface="Times New Roman"/>
                <a:sym typeface="Times New Roman"/>
              </a:rPr>
              <a:t>Cameras → </a:t>
            </a:r>
            <a:r>
              <a:rPr lang="en-US" sz="2260">
                <a:latin typeface="Times New Roman"/>
                <a:ea typeface="Times New Roman"/>
                <a:cs typeface="Times New Roman"/>
                <a:sym typeface="Times New Roman"/>
              </a:rPr>
              <a:t>Capture live video feed (Raspberry Pi / CCTV / Jetson).</a:t>
            </a:r>
            <a:endParaRPr/>
          </a:p>
          <a:p>
            <a:pPr indent="-469900" lvl="0" marL="469900" rtl="0" algn="just">
              <a:lnSpc>
                <a:spcPct val="100000"/>
              </a:lnSpc>
              <a:spcBef>
                <a:spcPts val="452"/>
              </a:spcBef>
              <a:spcAft>
                <a:spcPts val="0"/>
              </a:spcAft>
              <a:buSzPts val="2260"/>
              <a:buFont typeface="Arial"/>
              <a:buChar char="•"/>
            </a:pPr>
            <a:r>
              <a:rPr b="1" lang="en-US" sz="2260">
                <a:latin typeface="Times New Roman"/>
                <a:ea typeface="Times New Roman"/>
                <a:cs typeface="Times New Roman"/>
                <a:sym typeface="Times New Roman"/>
              </a:rPr>
              <a:t>YOLO v10 Model → </a:t>
            </a:r>
            <a:r>
              <a:rPr lang="en-US" sz="2260">
                <a:latin typeface="Times New Roman"/>
                <a:ea typeface="Times New Roman"/>
                <a:cs typeface="Times New Roman"/>
                <a:sym typeface="Times New Roman"/>
              </a:rPr>
              <a:t>Detect weapons (metallic &amp; non-metallic) + persons in real-time.</a:t>
            </a:r>
            <a:endParaRPr/>
          </a:p>
          <a:p>
            <a:pPr indent="-469900" lvl="0" marL="469900" rtl="0" algn="just">
              <a:lnSpc>
                <a:spcPct val="100000"/>
              </a:lnSpc>
              <a:spcBef>
                <a:spcPts val="452"/>
              </a:spcBef>
              <a:spcAft>
                <a:spcPts val="0"/>
              </a:spcAft>
              <a:buSzPts val="2260"/>
              <a:buFont typeface="Arial"/>
              <a:buChar char="•"/>
            </a:pPr>
            <a:r>
              <a:rPr b="1" lang="en-US" sz="2260">
                <a:latin typeface="Times New Roman"/>
                <a:ea typeface="Times New Roman"/>
                <a:cs typeface="Times New Roman"/>
                <a:sym typeface="Times New Roman"/>
              </a:rPr>
              <a:t>Matching Module → </a:t>
            </a:r>
            <a:r>
              <a:rPr lang="en-US" sz="2260">
                <a:latin typeface="Times New Roman"/>
                <a:ea typeface="Times New Roman"/>
                <a:cs typeface="Times New Roman"/>
                <a:sym typeface="Times New Roman"/>
              </a:rPr>
              <a:t>Face recognition + attribute-based matching (clothes, accessories).</a:t>
            </a:r>
            <a:endParaRPr/>
          </a:p>
          <a:p>
            <a:pPr indent="-469900" lvl="0" marL="469900" rtl="0" algn="just">
              <a:lnSpc>
                <a:spcPct val="100000"/>
              </a:lnSpc>
              <a:spcBef>
                <a:spcPts val="452"/>
              </a:spcBef>
              <a:spcAft>
                <a:spcPts val="0"/>
              </a:spcAft>
              <a:buSzPts val="2260"/>
              <a:buFont typeface="Arial"/>
              <a:buChar char="•"/>
            </a:pPr>
            <a:r>
              <a:rPr b="1" lang="en-US" sz="2260">
                <a:latin typeface="Times New Roman"/>
                <a:ea typeface="Times New Roman"/>
                <a:cs typeface="Times New Roman"/>
                <a:sym typeface="Times New Roman"/>
              </a:rPr>
              <a:t>Alert System → </a:t>
            </a:r>
            <a:r>
              <a:rPr lang="en-US" sz="2260">
                <a:latin typeface="Times New Roman"/>
                <a:ea typeface="Times New Roman"/>
                <a:cs typeface="Times New Roman"/>
                <a:sym typeface="Times New Roman"/>
              </a:rPr>
              <a:t>Triggers buzzer, email, SMS for detected threats/missing persons.</a:t>
            </a:r>
            <a:endParaRPr/>
          </a:p>
          <a:p>
            <a:pPr indent="-469900" lvl="0" marL="469900" rtl="0" algn="just">
              <a:lnSpc>
                <a:spcPct val="100000"/>
              </a:lnSpc>
              <a:spcBef>
                <a:spcPts val="452"/>
              </a:spcBef>
              <a:spcAft>
                <a:spcPts val="0"/>
              </a:spcAft>
              <a:buSzPts val="2260"/>
              <a:buFont typeface="Arial"/>
              <a:buChar char="•"/>
            </a:pPr>
            <a:r>
              <a:rPr b="1" lang="en-US" sz="2260">
                <a:latin typeface="Times New Roman"/>
                <a:ea typeface="Times New Roman"/>
                <a:cs typeface="Times New Roman"/>
                <a:sym typeface="Times New Roman"/>
              </a:rPr>
              <a:t>Web Dashboard → </a:t>
            </a:r>
            <a:r>
              <a:rPr lang="en-US" sz="2260">
                <a:latin typeface="Times New Roman"/>
                <a:ea typeface="Times New Roman"/>
                <a:cs typeface="Times New Roman"/>
                <a:sym typeface="Times New Roman"/>
              </a:rPr>
              <a:t>Multi-camera monitoring, alerts history, logs, live feed visualization.</a:t>
            </a:r>
            <a:endParaRPr/>
          </a:p>
          <a:p>
            <a:pPr indent="-469900" lvl="0" marL="469900" rtl="0" algn="just">
              <a:lnSpc>
                <a:spcPct val="100000"/>
              </a:lnSpc>
              <a:spcBef>
                <a:spcPts val="452"/>
              </a:spcBef>
              <a:spcAft>
                <a:spcPts val="0"/>
              </a:spcAft>
              <a:buSzPts val="2260"/>
              <a:buFont typeface="Arial"/>
              <a:buChar char="•"/>
            </a:pPr>
            <a:r>
              <a:rPr b="1" lang="en-US" sz="2260">
                <a:latin typeface="Times New Roman"/>
                <a:ea typeface="Times New Roman"/>
                <a:cs typeface="Times New Roman"/>
                <a:sym typeface="Times New Roman"/>
              </a:rPr>
              <a:t>Database </a:t>
            </a:r>
            <a:r>
              <a:rPr lang="en-US" sz="2260">
                <a:latin typeface="Times New Roman"/>
                <a:ea typeface="Times New Roman"/>
                <a:cs typeface="Times New Roman"/>
                <a:sym typeface="Times New Roman"/>
              </a:rPr>
              <a:t>→ Stores missing persons data, detection logs, and alerts for analysis.</a:t>
            </a:r>
            <a:endParaRPr/>
          </a:p>
        </p:txBody>
      </p:sp>
      <p:sp>
        <p:nvSpPr>
          <p:cNvPr id="192" name="Google Shape;192;p13"/>
          <p:cNvSpPr txBox="1"/>
          <p:nvPr>
            <p:ph idx="10" type="dt"/>
          </p:nvPr>
        </p:nvSpPr>
        <p:spPr>
          <a:xfrm>
            <a:off x="8128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Zeroth Review</a:t>
            </a:r>
            <a:endParaRPr/>
          </a:p>
        </p:txBody>
      </p:sp>
      <p:sp>
        <p:nvSpPr>
          <p:cNvPr id="193" name="Google Shape;193;p13"/>
          <p:cNvSpPr txBox="1"/>
          <p:nvPr>
            <p:ph idx="11" type="ftr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Department of </a:t>
            </a:r>
            <a:r>
              <a:rPr lang="en-US">
                <a:solidFill>
                  <a:srgbClr val="002060"/>
                </a:solidFill>
                <a:latin typeface="Verdana"/>
                <a:ea typeface="Verdana"/>
                <a:cs typeface="Verdana"/>
                <a:sym typeface="Verdana"/>
              </a:rPr>
              <a:t>Artificial Intelligence and Data Science</a:t>
            </a:r>
            <a:endParaRPr/>
          </a:p>
        </p:txBody>
      </p:sp>
      <p:sp>
        <p:nvSpPr>
          <p:cNvPr id="194" name="Google Shape;194;p13"/>
          <p:cNvSpPr txBox="1"/>
          <p:nvPr>
            <p:ph idx="12" type="sldNum"/>
          </p:nvPr>
        </p:nvSpPr>
        <p:spPr>
          <a:xfrm>
            <a:off x="87376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 rotWithShape="1">
          <a:blip r:embed="rId3">
            <a:alphaModFix/>
          </a:blip>
          <a:tile algn="tl" flip="none" tx="0" sx="100000" ty="0" sy="100000"/>
        </a:blip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5"/>
          <p:cNvSpPr txBox="1"/>
          <p:nvPr>
            <p:ph type="title"/>
          </p:nvPr>
        </p:nvSpPr>
        <p:spPr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3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External Interfaces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0" name="Google Shape;200;p15"/>
          <p:cNvSpPr txBox="1"/>
          <p:nvPr>
            <p:ph idx="1" type="body"/>
          </p:nvPr>
        </p:nvSpPr>
        <p:spPr>
          <a:xfrm>
            <a:off x="755651" y="1752600"/>
            <a:ext cx="10668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Alert System: </a:t>
            </a:r>
            <a:endParaRPr/>
          </a:p>
          <a:p>
            <a:pPr indent="-469900" lvl="0" marL="4699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Real-time alerts via buzzer, SMS, or email.</a:t>
            </a:r>
            <a:endParaRPr/>
          </a:p>
          <a:p>
            <a:pPr indent="-469900" lvl="0" marL="4699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Centralized dashboard for live feed + alert logs.</a:t>
            </a:r>
            <a:endParaRPr/>
          </a:p>
          <a:p>
            <a:pPr indent="-469900" lvl="0" marL="4699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Multi-camera integration for large-scale events.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Scalability &amp; Storage:</a:t>
            </a:r>
            <a:endParaRPr/>
          </a:p>
          <a:p>
            <a:pPr indent="-469900" lvl="0" marL="4699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Edge devices (Raspberry Pi / Jetson) for real-time processing.</a:t>
            </a:r>
            <a:endParaRPr/>
          </a:p>
          <a:p>
            <a:pPr indent="-469900" lvl="0" marL="4699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Cloud backend for storage, analytics, and centralized monitoring.</a:t>
            </a:r>
            <a:endParaRPr/>
          </a:p>
        </p:txBody>
      </p:sp>
      <p:sp>
        <p:nvSpPr>
          <p:cNvPr id="201" name="Google Shape;201;p15"/>
          <p:cNvSpPr txBox="1"/>
          <p:nvPr>
            <p:ph idx="10" type="dt"/>
          </p:nvPr>
        </p:nvSpPr>
        <p:spPr>
          <a:xfrm>
            <a:off x="8128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Zeroth Review</a:t>
            </a:r>
            <a:endParaRPr/>
          </a:p>
        </p:txBody>
      </p:sp>
      <p:sp>
        <p:nvSpPr>
          <p:cNvPr id="202" name="Google Shape;202;p15"/>
          <p:cNvSpPr txBox="1"/>
          <p:nvPr>
            <p:ph idx="11" type="ftr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Department of </a:t>
            </a:r>
            <a:r>
              <a:rPr lang="en-US">
                <a:solidFill>
                  <a:srgbClr val="002060"/>
                </a:solidFill>
                <a:latin typeface="Verdana"/>
                <a:ea typeface="Verdana"/>
                <a:cs typeface="Verdana"/>
                <a:sym typeface="Verdana"/>
              </a:rPr>
              <a:t>Artificial Intelligence and Data Science</a:t>
            </a:r>
            <a:endParaRPr/>
          </a:p>
        </p:txBody>
      </p:sp>
      <p:sp>
        <p:nvSpPr>
          <p:cNvPr id="203" name="Google Shape;203;p15"/>
          <p:cNvSpPr txBox="1"/>
          <p:nvPr>
            <p:ph idx="12" type="sldNum"/>
          </p:nvPr>
        </p:nvSpPr>
        <p:spPr>
          <a:xfrm>
            <a:off x="87376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 rotWithShape="1">
          <a:blip r:embed="rId3">
            <a:alphaModFix/>
          </a:blip>
          <a:tile algn="tl" flip="none" tx="0" sx="100000" ty="0" sy="100000"/>
        </a:blip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6"/>
          <p:cNvSpPr txBox="1"/>
          <p:nvPr>
            <p:ph type="title"/>
          </p:nvPr>
        </p:nvSpPr>
        <p:spPr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3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Requirements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9" name="Google Shape;209;p16"/>
          <p:cNvSpPr txBox="1"/>
          <p:nvPr>
            <p:ph idx="1" type="body"/>
          </p:nvPr>
        </p:nvSpPr>
        <p:spPr>
          <a:xfrm>
            <a:off x="755651" y="1752600"/>
            <a:ext cx="10668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69900" lvl="0" marL="469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System Requirements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Hardware Requirements: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11938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Noto Sans Symbols"/>
              <a:buChar char="■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Minimum: 4 GB RAM, Dual-core CPU, 2 Mbps Internet, Camera Module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11938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Noto Sans Symbols"/>
              <a:buChar char="■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Recommended: 8 GB RAM, Quad-core CPU, SSD, Stable broadband, 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5MP+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 CCTV/IP camera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Software Requirements: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11938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Noto Sans Symbols"/>
              <a:buChar char="■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OS: Windows/Linux/Mac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11938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Noto Sans Symbols"/>
              <a:buChar char="■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Python 3.10+, Flask/Django, OpenCV, YOLO v10, MongoDB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11938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Noto Sans Symbols"/>
              <a:buChar char="■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Chrome browser with extension enabled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69900" lvl="0" marL="4699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0" name="Google Shape;210;p16"/>
          <p:cNvSpPr txBox="1"/>
          <p:nvPr>
            <p:ph idx="10" type="dt"/>
          </p:nvPr>
        </p:nvSpPr>
        <p:spPr>
          <a:xfrm>
            <a:off x="8128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Zeroth Review</a:t>
            </a:r>
            <a:endParaRPr/>
          </a:p>
        </p:txBody>
      </p:sp>
      <p:sp>
        <p:nvSpPr>
          <p:cNvPr id="211" name="Google Shape;211;p16"/>
          <p:cNvSpPr txBox="1"/>
          <p:nvPr>
            <p:ph idx="11" type="ftr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Department of </a:t>
            </a:r>
            <a:r>
              <a:rPr lang="en-US">
                <a:solidFill>
                  <a:srgbClr val="002060"/>
                </a:solidFill>
                <a:latin typeface="Verdana"/>
                <a:ea typeface="Verdana"/>
                <a:cs typeface="Verdana"/>
                <a:sym typeface="Verdana"/>
              </a:rPr>
              <a:t>Artificial Intelligence and Data Science</a:t>
            </a:r>
            <a:endParaRPr/>
          </a:p>
        </p:txBody>
      </p:sp>
      <p:sp>
        <p:nvSpPr>
          <p:cNvPr id="212" name="Google Shape;212;p16"/>
          <p:cNvSpPr txBox="1"/>
          <p:nvPr>
            <p:ph idx="12" type="sldNum"/>
          </p:nvPr>
        </p:nvSpPr>
        <p:spPr>
          <a:xfrm>
            <a:off x="87376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 rotWithShape="1">
          <a:blip r:embed="rId3">
            <a:alphaModFix/>
          </a:blip>
          <a:tile algn="tl" flip="none" tx="0" sx="100000" ty="0" sy="100000"/>
        </a:blip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7"/>
          <p:cNvSpPr txBox="1"/>
          <p:nvPr>
            <p:ph type="title"/>
          </p:nvPr>
        </p:nvSpPr>
        <p:spPr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3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Non </a:t>
            </a:r>
            <a:r>
              <a:rPr b="1" lang="en-US" sz="3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Functional</a:t>
            </a:r>
            <a:r>
              <a:rPr b="1" lang="en-US" sz="3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Requirements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8" name="Google Shape;218;p17"/>
          <p:cNvSpPr txBox="1"/>
          <p:nvPr>
            <p:ph idx="1" type="body"/>
          </p:nvPr>
        </p:nvSpPr>
        <p:spPr>
          <a:xfrm>
            <a:off x="755651" y="1752600"/>
            <a:ext cx="10668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69900" lvl="0" marL="469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Performance: 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Real-time detection with alerts triggered in &lt;2 seconds.</a:t>
            </a:r>
            <a:endParaRPr/>
          </a:p>
          <a:p>
            <a:pPr indent="-469900" lvl="0" marL="4699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Security: 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Secure login for dashboard, encrypted storage of person data and logs</a:t>
            </a:r>
            <a:r>
              <a:rPr lang="en-US" sz="2400"/>
              <a:t>.</a:t>
            </a:r>
            <a:endParaRPr/>
          </a:p>
          <a:p>
            <a:pPr indent="-469900" lvl="0" marL="4699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Scalability: 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Supports multiple cameras, large datasets, and multi-user monitoring</a:t>
            </a:r>
            <a:r>
              <a:rPr lang="en-US" sz="2400"/>
              <a:t>.</a:t>
            </a:r>
            <a:endParaRPr/>
          </a:p>
          <a:p>
            <a:pPr indent="-469900" lvl="0" marL="4699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Portability: 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Works across Raspberry Pi, Jetson, and cloud servers with web dashboard accessible via browsers.</a:t>
            </a:r>
            <a:endParaRPr/>
          </a:p>
          <a:p>
            <a:pPr indent="-469900" lvl="0" marL="4699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Maintainability: 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Modular architecture with separate detection, alert, and dashboard modules for easy updates and improvements.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9" name="Google Shape;219;p17"/>
          <p:cNvSpPr txBox="1"/>
          <p:nvPr>
            <p:ph idx="10" type="dt"/>
          </p:nvPr>
        </p:nvSpPr>
        <p:spPr>
          <a:xfrm>
            <a:off x="8128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Zeroth Review</a:t>
            </a:r>
            <a:endParaRPr/>
          </a:p>
        </p:txBody>
      </p:sp>
      <p:sp>
        <p:nvSpPr>
          <p:cNvPr id="220" name="Google Shape;220;p17"/>
          <p:cNvSpPr txBox="1"/>
          <p:nvPr>
            <p:ph idx="11" type="ftr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Department of </a:t>
            </a:r>
            <a:r>
              <a:rPr lang="en-US">
                <a:solidFill>
                  <a:srgbClr val="002060"/>
                </a:solidFill>
                <a:latin typeface="Verdana"/>
                <a:ea typeface="Verdana"/>
                <a:cs typeface="Verdana"/>
                <a:sym typeface="Verdana"/>
              </a:rPr>
              <a:t>Artificial Intelligence and Data Science</a:t>
            </a:r>
            <a:endParaRPr/>
          </a:p>
        </p:txBody>
      </p:sp>
      <p:sp>
        <p:nvSpPr>
          <p:cNvPr id="221" name="Google Shape;221;p17"/>
          <p:cNvSpPr txBox="1"/>
          <p:nvPr>
            <p:ph idx="12" type="sldNum"/>
          </p:nvPr>
        </p:nvSpPr>
        <p:spPr>
          <a:xfrm>
            <a:off x="87376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 rotWithShape="1">
          <a:blip r:embed="rId3">
            <a:alphaModFix/>
          </a:blip>
          <a:tile algn="tl" flip="none" tx="0" sx="100000" ty="0" sy="100000"/>
        </a:blip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8"/>
          <p:cNvSpPr txBox="1"/>
          <p:nvPr>
            <p:ph type="title"/>
          </p:nvPr>
        </p:nvSpPr>
        <p:spPr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3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Future Scope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7" name="Google Shape;227;p18"/>
          <p:cNvSpPr txBox="1"/>
          <p:nvPr>
            <p:ph idx="1" type="body"/>
          </p:nvPr>
        </p:nvSpPr>
        <p:spPr>
          <a:xfrm>
            <a:off x="755651" y="1752600"/>
            <a:ext cx="10668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69900" lvl="0" marL="469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□"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Collaborative Monitoring </a:t>
            </a:r>
            <a:r>
              <a:rPr b="1" lang="en-US" sz="2400"/>
              <a:t>→</a:t>
            </a:r>
            <a:r>
              <a:rPr lang="en-US" sz="2400"/>
              <a:t> 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Allows multiple security personnel to access and respond to the same dashboard simultaneously.</a:t>
            </a:r>
            <a:endParaRPr/>
          </a:p>
          <a:p>
            <a:pPr indent="-469900" lvl="0" marL="4699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□"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Integration with Security Systems </a:t>
            </a:r>
            <a:r>
              <a:rPr b="1" lang="en-US" sz="2400"/>
              <a:t>→</a:t>
            </a:r>
            <a:r>
              <a:rPr lang="en-US" sz="2400"/>
              <a:t> 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Can be linked with existing CCTV infrastructure, alarm systems, and emergency communication networks.</a:t>
            </a:r>
            <a:endParaRPr/>
          </a:p>
          <a:p>
            <a:pPr indent="-469900" lvl="0" marL="4699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□"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Data Analytics for Research </a:t>
            </a:r>
            <a:r>
              <a:rPr b="1" lang="en-US" sz="2400"/>
              <a:t>→</a:t>
            </a:r>
            <a:r>
              <a:rPr lang="en-US" sz="2400"/>
              <a:t> 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Collects anonymized detection data to analyze threat patterns, crowd behavior, and improve model accuracy over time.</a:t>
            </a:r>
            <a:endParaRPr/>
          </a:p>
          <a:p>
            <a:pPr indent="-317500" lvl="0" marL="4699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8" name="Google Shape;228;p18"/>
          <p:cNvSpPr txBox="1"/>
          <p:nvPr>
            <p:ph idx="10" type="dt"/>
          </p:nvPr>
        </p:nvSpPr>
        <p:spPr>
          <a:xfrm>
            <a:off x="8128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Zeroth Review</a:t>
            </a:r>
            <a:endParaRPr/>
          </a:p>
        </p:txBody>
      </p:sp>
      <p:sp>
        <p:nvSpPr>
          <p:cNvPr id="229" name="Google Shape;229;p18"/>
          <p:cNvSpPr txBox="1"/>
          <p:nvPr>
            <p:ph idx="11" type="ftr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Department of </a:t>
            </a:r>
            <a:r>
              <a:rPr lang="en-US">
                <a:solidFill>
                  <a:srgbClr val="002060"/>
                </a:solidFill>
                <a:latin typeface="Verdana"/>
                <a:ea typeface="Verdana"/>
                <a:cs typeface="Verdana"/>
                <a:sym typeface="Verdana"/>
              </a:rPr>
              <a:t>Artificial Intelligence and Data Science</a:t>
            </a:r>
            <a:endParaRPr/>
          </a:p>
        </p:txBody>
      </p:sp>
      <p:sp>
        <p:nvSpPr>
          <p:cNvPr id="230" name="Google Shape;230;p18"/>
          <p:cNvSpPr txBox="1"/>
          <p:nvPr>
            <p:ph idx="12" type="sldNum"/>
          </p:nvPr>
        </p:nvSpPr>
        <p:spPr>
          <a:xfrm>
            <a:off x="87376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9"/>
          <p:cNvSpPr txBox="1"/>
          <p:nvPr>
            <p:ph type="title"/>
          </p:nvPr>
        </p:nvSpPr>
        <p:spPr>
          <a:xfrm>
            <a:off x="711200" y="3168074"/>
            <a:ext cx="10668000" cy="1216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3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6" name="Google Shape;236;p19"/>
          <p:cNvSpPr txBox="1"/>
          <p:nvPr>
            <p:ph idx="11" type="ftr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Department of </a:t>
            </a:r>
            <a:r>
              <a:rPr lang="en-US">
                <a:solidFill>
                  <a:srgbClr val="002060"/>
                </a:solidFill>
                <a:latin typeface="Verdana"/>
                <a:ea typeface="Verdana"/>
                <a:cs typeface="Verdana"/>
                <a:sym typeface="Verdana"/>
              </a:rPr>
              <a:t>Artificial Intelligence and Data Science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7" name="Google Shape;237;p19"/>
          <p:cNvSpPr txBox="1"/>
          <p:nvPr>
            <p:ph idx="12" type="sldNum"/>
          </p:nvPr>
        </p:nvSpPr>
        <p:spPr>
          <a:xfrm>
            <a:off x="87376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8" name="Google Shape;238;p19"/>
          <p:cNvSpPr txBox="1"/>
          <p:nvPr>
            <p:ph idx="10" type="dt"/>
          </p:nvPr>
        </p:nvSpPr>
        <p:spPr>
          <a:xfrm>
            <a:off x="8128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Zeroth Review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2025-07-29T03:52:00Z</dcterms:created>
  <dc:creator>DURAI MURUGAN N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1033-12.2.0.21931</vt:lpwstr>
  </property>
  <property fmtid="{D5CDD505-2E9C-101B-9397-08002B2CF9AE}" pid="3" name="ICV">
    <vt:lpwstr>3006CE6E867A49B3B074EE70614A9843_12</vt:lpwstr>
  </property>
</Properties>
</file>